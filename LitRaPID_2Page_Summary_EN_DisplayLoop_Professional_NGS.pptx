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528d26ae12407d" /><Relationship Type="http://schemas.openxmlformats.org/officeDocument/2006/relationships/extended-properties" Target="/docProps/app.xml" Id="Re9a409eac72843b5" /><Relationship Type="http://schemas.openxmlformats.org/officeDocument/2006/relationships/officeDocument" Target="/ppt/presentation.xml" Id="Rfc98d34a7ae949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0dfd5b22644a52"/>
  </p:sldMasterIdLst>
  <p:notesMasterIdLst>
    <p:notesMasterId xmlns:r="http://schemas.openxmlformats.org/officeDocument/2006/relationships" r:id="R7d24cf0c249b4c1a"/>
  </p:notesMasterIdLst>
  <p:sldIdLst>
    <p:sldId xmlns:r="http://schemas.openxmlformats.org/officeDocument/2006/relationships" id="256" r:id="R08559df8aeb64b35"/>
    <p:sldId xmlns:r="http://schemas.openxmlformats.org/officeDocument/2006/relationships" id="257" r:id="Rc7dc14bbb0ce45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9801bdb64c4156" /><Relationship Type="http://schemas.openxmlformats.org/officeDocument/2006/relationships/slideMaster" Target="/ppt/slideMasters/slideMaster1.xml" Id="R620dfd5b22644a52" /><Relationship Type="http://schemas.openxmlformats.org/officeDocument/2006/relationships/notesMaster" Target="/ppt/notesMasters/notesMaster1.xml" Id="R7d24cf0c249b4c1a" /><Relationship Type="http://schemas.openxmlformats.org/officeDocument/2006/relationships/presProps" Target="/ppt/presProps.xml" Id="R12ac462eaee74bd2" /><Relationship Type="http://schemas.openxmlformats.org/officeDocument/2006/relationships/tableStyles" Target="/ppt/tableStyles.xml" Id="Rb478262a3b544c4e" /><Relationship Type="http://schemas.openxmlformats.org/officeDocument/2006/relationships/slide" Target="/ppt/slides/slide1.xml" Id="R08559df8aeb64b35" /><Relationship Type="http://schemas.openxmlformats.org/officeDocument/2006/relationships/slide" Target="/ppt/slides/slide2.xml" Id="Rc7dc14bbb0ce45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5435266f6740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9771516d1848a4" /><Relationship Type="http://schemas.openxmlformats.org/officeDocument/2006/relationships/notesMaster" Target="/ppt/notesMasters/notesMaster1.xml" Id="R8547cc29b6d046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adcd1431714ebc" /><Relationship Type="http://schemas.openxmlformats.org/officeDocument/2006/relationships/notesMaster" Target="/ppt/notesMasters/notesMaster1.xml" Id="R633589856ed44b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algorithm: src/litrapid/display_loop.py</a:t>
            </a:r>
          </a:p>
          <a:p xmlns:a="http://schemas.openxmlformats.org/drawingml/2006/main">
            <a:r>
              <a:t>- https://pmc.ncbi.nlm.nih.gov/articles/PMC7915732/</a:t>
            </a:r>
          </a:p>
          <a:p xmlns:a="http://schemas.openxmlformats.org/drawingml/2006/main">
            <a:r>
              <a:t>- https://pmc.ncbi.nlm.nih.gov/articles/PMC3444042/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generated and edited for this presentation with OpenAI image generation</a:t>
            </a:r>
          </a:p>
          <a:p xmlns:a="http://schemas.openxmlformats.org/drawingml/2006/main">
            <a:r>
              <a:t>- Project algorithm: src/litrapid/display_loop.py</a:t>
            </a:r>
          </a:p>
          <a:p xmlns:a="http://schemas.openxmlformats.org/drawingml/2006/main">
            <a:r>
              <a:t>- https://pmc.ncbi.nlm.nih.gov/articles/PMC4912380/</a:t>
            </a:r>
          </a:p>
          <a:p xmlns:a="http://schemas.openxmlformats.org/drawingml/2006/main">
            <a:r>
              <a:t>- https://pmc.ncbi.nlm.nih.gov/articles/PMC8493807/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7855e5f2940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b30de1a1174fd5" /><Relationship Type="http://schemas.openxmlformats.org/officeDocument/2006/relationships/slideLayout" Target="/ppt/slideLayouts/slideLayout1.xml" Id="Rd4805a728f634f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805a728f634f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2def7a6cc49cb" /><Relationship Type="http://schemas.openxmlformats.org/officeDocument/2006/relationships/notesSlide" Target="/ppt/notesSlides/notesSlide1.xml" Id="Ra6ba26dca97c40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c547345054b0e" /><Relationship Type="http://schemas.openxmlformats.org/officeDocument/2006/relationships/image" Target="/ppt/media/image.png" Id="R28b591ef7d284fa9" /><Relationship Type="http://schemas.openxmlformats.org/officeDocument/2006/relationships/notesSlide" Target="/ppt/notesSlides/notesSlide2.xml" Id="R06825671b68644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BD3E83-EA70-4E4E-B706-88618287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LitRaPID connects in silico design to two display backends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8E5AEB7-A1B2-4965-9F5E-E8C0D690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C636B"/>
                </a:solidFill>
              </a:defRPr>
            </a:pPr>
            <a:r>
              <a:rPr sz="1050" b="0">
                <a:solidFill>
                  <a:srgbClr val="5C636B"/>
                </a:solidFill>
              </a:rPr>
              <a:t>01</a:t>
            </a:r>
          </a:p>
        </p:txBody>
      </p:sp>
      <p:sp>
        <p:nvSpPr>
          <p:cNvPr id="3" name="metric-0">
            <a:extLst xmlns:a="http://schemas.openxmlformats.org/drawingml/2006/main">
              <a:ext uri="{FF2B5EF4-FFF2-40B4-BE49-F238E27FC236}">
                <a16:creationId xmlns:a16="http://schemas.microsoft.com/office/drawing/2014/main" id="{D1E598AD-24C8-4383-A93E-7A037719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2194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EDE6CED6-E794-4C90-BBFC-683A4CB9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A0A0A"/>
                </a:solidFill>
              </a:defRPr>
            </a:pPr>
            <a:r>
              <a:rPr sz="4350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5" name="head-0">
            <a:extLst xmlns:a="http://schemas.openxmlformats.org/drawingml/2006/main">
              <a:ext uri="{FF2B5EF4-FFF2-40B4-BE49-F238E27FC236}">
                <a16:creationId xmlns:a16="http://schemas.microsoft.com/office/drawing/2014/main" id="{8C524D7D-B517-482B-A4D5-00C2EE32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Display backends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125B7706-8276-4A65-BD2D-025C508A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C636B"/>
                </a:solidFill>
              </a:defRPr>
            </a:pPr>
            <a:r>
              <a:rPr sz="1500" b="0">
                <a:solidFill>
                  <a:srgbClr val="5C636B"/>
                </a:solidFill>
              </a:rPr>
              <a:t>Aga2 yeast surface display and M13 pIII phage display use separate sequence filters, codon policies and export rules.</a:t>
            </a:r>
          </a:p>
        </p:txBody>
      </p:sp>
      <p:sp>
        <p:nvSpPr>
          <p:cNvPr id="7" name="metric-1">
            <a:extLst xmlns:a="http://schemas.openxmlformats.org/drawingml/2006/main">
              <a:ext uri="{FF2B5EF4-FFF2-40B4-BE49-F238E27FC236}">
                <a16:creationId xmlns:a16="http://schemas.microsoft.com/office/drawing/2014/main" id="{18D1B3BB-4691-48BA-8E50-8497663B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32194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2CA18E4A-C525-4C8B-B3B5-5A1D6828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52625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</a:defRPr>
            </a:pPr>
            <a:r>
              <a:rPr sz="43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9" name="head-1">
            <a:extLst xmlns:a="http://schemas.openxmlformats.org/drawingml/2006/main">
              <a:ext uri="{FF2B5EF4-FFF2-40B4-BE49-F238E27FC236}">
                <a16:creationId xmlns:a16="http://schemas.microsoft.com/office/drawing/2014/main" id="{A93D0E71-40A3-4272-B0D0-781681D7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0512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Sequence routes</a:t>
            </a:r>
          </a:p>
        </p:txBody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0989A80B-064B-4AD1-9EB0-AF0EA463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76625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C636B"/>
                </a:solidFill>
              </a:defRPr>
            </a:pPr>
            <a:r>
              <a:rPr sz="1500" b="0">
                <a:solidFill>
                  <a:srgbClr val="5C636B"/>
                </a:solidFill>
              </a:rPr>
              <a:t>DIRECT_DISPLAY, DISPLAY_REVIEW and SYNTHESIS_ONLY keep noncanonical or backend-incompatible candidates in the correct workflow.</a:t>
            </a:r>
          </a:p>
        </p:txBody>
      </p:sp>
      <p:sp>
        <p:nvSpPr>
          <p:cNvPr id="11" name="metric-2">
            <a:extLst xmlns:a="http://schemas.openxmlformats.org/drawingml/2006/main">
              <a:ext uri="{FF2B5EF4-FFF2-40B4-BE49-F238E27FC236}">
                <a16:creationId xmlns:a16="http://schemas.microsoft.com/office/drawing/2014/main" id="{A6EB45A9-AFE3-434C-B271-97C6B5AE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2194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-2">
            <a:extLst xmlns:a="http://schemas.openxmlformats.org/drawingml/2006/main">
              <a:ext uri="{FF2B5EF4-FFF2-40B4-BE49-F238E27FC236}">
                <a16:creationId xmlns:a16="http://schemas.microsoft.com/office/drawing/2014/main" id="{DAF5C801-E074-4A52-ABAB-DD7B6299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A0A0A"/>
                </a:solidFill>
              </a:defRPr>
            </a:pPr>
            <a:r>
              <a:rPr sz="4350" b="1">
                <a:solidFill>
                  <a:srgbClr val="0A0A0A"/>
                </a:solidFill>
              </a:rPr>
              <a:t>7</a:t>
            </a:r>
          </a:p>
        </p:txBody>
      </p:sp>
      <p:sp>
        <p:nvSpPr>
          <p:cNvPr id="13" name="head-2">
            <a:extLst xmlns:a="http://schemas.openxmlformats.org/drawingml/2006/main">
              <a:ext uri="{FF2B5EF4-FFF2-40B4-BE49-F238E27FC236}">
                <a16:creationId xmlns:a16="http://schemas.microsoft.com/office/drawing/2014/main" id="{8AB6D874-8280-46E7-98EB-51D69CB2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0512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Joint objectives</a:t>
            </a:r>
          </a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4C0AA20F-BDDB-4779-AD33-AEF34285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76625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C636B"/>
                </a:solidFill>
              </a:defRPr>
            </a:pPr>
            <a:r>
              <a:rPr sz="1500" b="0">
                <a:solidFill>
                  <a:srgbClr val="5C636B"/>
                </a:solidFill>
              </a:rPr>
              <a:t>Affinity, selectivity, developability, structural fit, novelty, evidence domain and risk drive ranking; export includes peptide, DNA insert and barcode.</a:t>
            </a:r>
          </a:p>
        </p:txBody>
      </p:sp>
    </p:spTree>
    <p:extLst>
      <p:ext uri="{BB962C8B-B14F-4D97-AF65-F5344CB8AC3E}">
        <p14:creationId xmlns:p14="http://schemas.microsoft.com/office/powerpoint/2010/main" val="1111771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2DF853-2804-4000-A93B-D672355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Each wet-lab round updates the model and designs the next panel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9DECC17-BA0D-461B-94A2-107DA5CC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C636B"/>
                </a:solidFill>
              </a:defRPr>
            </a:pPr>
            <a:r>
              <a:rPr sz="1050" b="0">
                <a:solidFill>
                  <a:srgbClr val="5C636B"/>
                </a:solidFill>
              </a:rPr>
              <a:t>02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591ef7d284fa9"/>
          <a:stretch xmlns:a="http://schemas.openxmlformats.org/drawingml/2006/main"/>
        </p:blipFill>
        <p:spPr>
          <a:xfrm xmlns:a="http://schemas.openxmlformats.org/drawingml/2006/main">
            <a:off x="1991849" y="1381125"/>
            <a:ext cx="8208303" cy="4619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116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2026-08-20T02:58:52.7140000Z</dcterms:created>
  <dcterms:modified xsi:type="dcterms:W3CDTF">2026-08-20T02:58:52.7140000Z</dcterms:modified>
</coreProperties>
</file>