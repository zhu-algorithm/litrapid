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ef9b0bd4a645fe" /><Relationship Type="http://schemas.openxmlformats.org/officeDocument/2006/relationships/extended-properties" Target="/docProps/app.xml" Id="Rdcd2de09fa7143a7" /><Relationship Type="http://schemas.openxmlformats.org/officeDocument/2006/relationships/officeDocument" Target="/ppt/presentation.xml" Id="Rd8b91bab8a6549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3d43f4a95a4a76"/>
  </p:sldMasterIdLst>
  <p:notesMasterIdLst>
    <p:notesMasterId xmlns:r="http://schemas.openxmlformats.org/officeDocument/2006/relationships" r:id="R743323ef3b0e4183"/>
  </p:notesMasterIdLst>
  <p:sldIdLst>
    <p:sldId xmlns:r="http://schemas.openxmlformats.org/officeDocument/2006/relationships" id="256" r:id="Ra535fbb7073941fb"/>
    <p:sldId xmlns:r="http://schemas.openxmlformats.org/officeDocument/2006/relationships" id="257" r:id="R45396b5a811c4f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4317f6dd314ce5" /><Relationship Type="http://schemas.openxmlformats.org/officeDocument/2006/relationships/slideMaster" Target="/ppt/slideMasters/slideMaster1.xml" Id="Rdd3d43f4a95a4a76" /><Relationship Type="http://schemas.openxmlformats.org/officeDocument/2006/relationships/notesMaster" Target="/ppt/notesMasters/notesMaster1.xml" Id="R743323ef3b0e4183" /><Relationship Type="http://schemas.openxmlformats.org/officeDocument/2006/relationships/presProps" Target="/ppt/presProps.xml" Id="Rbb3a4daad6004f32" /><Relationship Type="http://schemas.openxmlformats.org/officeDocument/2006/relationships/tableStyles" Target="/ppt/tableStyles.xml" Id="R41867b7dc23343bb" /><Relationship Type="http://schemas.openxmlformats.org/officeDocument/2006/relationships/slide" Target="/ppt/slides/slide1.xml" Id="Ra535fbb7073941fb" /><Relationship Type="http://schemas.openxmlformats.org/officeDocument/2006/relationships/slide" Target="/ppt/slides/slide2.xml" Id="R45396b5a811c4f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4b122915e14c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3c2058dc754cea" /><Relationship Type="http://schemas.openxmlformats.org/officeDocument/2006/relationships/notesMaster" Target="/ppt/notesMasters/notesMaster1.xml" Id="Redfa2b49914f41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9aee4d0f144098" /><Relationship Type="http://schemas.openxmlformats.org/officeDocument/2006/relationships/notesMaster" Target="/ppt/notesMasters/notesMaster1.xml" Id="R6c4141e8800d45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https://www.nature.com/articles/s41467-025-60907-x</a:t>
            </a:r>
          </a:p>
          <a:p xmlns:a="http://schemas.openxmlformats.org/drawingml/2006/main">
            <a:r>
              <a:t>- Project algorithm: src/litrapid/display_loop.py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generated for this presentation with OpenAI image generation</a:t>
            </a:r>
          </a:p>
          <a:p xmlns:a="http://schemas.openxmlformats.org/drawingml/2006/main">
            <a:r>
              <a:t>- https://www.nature.com/articles/s41467-025-60907-x</a:t>
            </a:r>
          </a:p>
          <a:p xmlns:a="http://schemas.openxmlformats.org/drawingml/2006/main">
            <a:r>
              <a:t>- Project algorithm: src/litrapid/display_loop.py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59c7ecd77842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d87b9fc0814d04" /><Relationship Type="http://schemas.openxmlformats.org/officeDocument/2006/relationships/slideLayout" Target="/ppt/slideLayouts/slideLayout1.xml" Id="Rc25928a8ab6f47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5928a8ab6f47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75a68ce0d4779" /><Relationship Type="http://schemas.openxmlformats.org/officeDocument/2006/relationships/notesSlide" Target="/ppt/notesSlides/notesSlide1.xml" Id="Rc5c5f21ab53a4c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6aaf5c8e14096" /><Relationship Type="http://schemas.openxmlformats.org/officeDocument/2006/relationships/image" Target="/ppt/media/image.png" Id="R27ee0c9b46d945f9" /><Relationship Type="http://schemas.openxmlformats.org/officeDocument/2006/relationships/notesSlide" Target="/ppt/notesSlides/notesSlide2.xml" Id="Rebc52093b76945f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BD3E83-EA70-4E4E-B706-88618287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</a:defRPr>
            </a:pPr>
            <a:r>
              <a:rPr sz="3000" b="1">
                <a:solidFill>
                  <a:srgbClr val="0A0A0A"/>
                </a:solidFill>
              </a:rPr>
              <a:t>LitRaPID adds GPI macrocycle display and NGS learning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8E5AEB7-A1B2-4965-9F5E-E8C0D690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C636B"/>
                </a:solidFill>
              </a:defRPr>
            </a:pPr>
            <a:r>
              <a:rPr sz="1050" b="0">
                <a:solidFill>
                  <a:srgbClr val="5C636B"/>
                </a:solidFill>
              </a:rPr>
              <a:t>01</a:t>
            </a:r>
          </a:p>
        </p:txBody>
      </p:sp>
      <p:sp>
        <p:nvSpPr>
          <p:cNvPr id="3" name="metric-0">
            <a:extLst xmlns:a="http://schemas.openxmlformats.org/drawingml/2006/main">
              <a:ext uri="{FF2B5EF4-FFF2-40B4-BE49-F238E27FC236}">
                <a16:creationId xmlns:a16="http://schemas.microsoft.com/office/drawing/2014/main" id="{D1E598AD-24C8-4383-A93E-7A037719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2194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num-0">
            <a:extLst xmlns:a="http://schemas.openxmlformats.org/drawingml/2006/main">
              <a:ext uri="{FF2B5EF4-FFF2-40B4-BE49-F238E27FC236}">
                <a16:creationId xmlns:a16="http://schemas.microsoft.com/office/drawing/2014/main" id="{EDE6CED6-E794-4C90-BBFC-683A4CB9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A0A0A"/>
                </a:solidFill>
              </a:defRPr>
            </a:pPr>
            <a:r>
              <a:rPr sz="4350" b="1">
                <a:solidFill>
                  <a:srgbClr val="0A0A0A"/>
                </a:solidFill>
              </a:rPr>
              <a:t>3</a:t>
            </a:r>
          </a:p>
        </p:txBody>
      </p:sp>
      <p:sp>
        <p:nvSpPr>
          <p:cNvPr id="5" name="head-0">
            <a:extLst xmlns:a="http://schemas.openxmlformats.org/drawingml/2006/main">
              <a:ext uri="{FF2B5EF4-FFF2-40B4-BE49-F238E27FC236}">
                <a16:creationId xmlns:a16="http://schemas.microsoft.com/office/drawing/2014/main" id="{8C524D7D-B517-482B-A4D5-00C2EE32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Display backends</a:t>
            </a:r>
          </a:p>
        </p:txBody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125B7706-8276-4A65-BD2D-025C508A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2647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C636B"/>
                </a:solidFill>
              </a:defRPr>
            </a:pPr>
            <a:r>
              <a:rPr sz="1500" b="0">
                <a:solidFill>
                  <a:srgbClr val="5C636B"/>
                </a:solidFill>
              </a:rPr>
              <a:t>Aga2 yeast, cysteine-free GPI macrocycle yeast and M13 pIII phage display use separate filters, codon policies and export rules.</a:t>
            </a:r>
          </a:p>
        </p:txBody>
      </p:sp>
      <p:sp>
        <p:nvSpPr>
          <p:cNvPr id="7" name="metric-1">
            <a:extLst xmlns:a="http://schemas.openxmlformats.org/drawingml/2006/main">
              <a:ext uri="{FF2B5EF4-FFF2-40B4-BE49-F238E27FC236}">
                <a16:creationId xmlns:a16="http://schemas.microsoft.com/office/drawing/2014/main" id="{18D1B3BB-4691-48BA-8E50-8497663B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32194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2CA18E4A-C525-4C8B-B3B5-5A1D6828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52625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3D8DFF"/>
                </a:solidFill>
              </a:defRPr>
            </a:pPr>
            <a:r>
              <a:rPr sz="4350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9" name="head-1">
            <a:extLst xmlns:a="http://schemas.openxmlformats.org/drawingml/2006/main">
              <a:ext uri="{FF2B5EF4-FFF2-40B4-BE49-F238E27FC236}">
                <a16:creationId xmlns:a16="http://schemas.microsoft.com/office/drawing/2014/main" id="{A93D0E71-40A3-4272-B0D0-781681D7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05125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Macrocycle formats</a:t>
            </a:r>
          </a:p>
        </p:txBody>
      </p:sp>
      <p:sp>
        <p:nvSpPr>
          <p:cNvPr id="10" name="body-1">
            <a:extLst xmlns:a="http://schemas.openxmlformats.org/drawingml/2006/main">
              <a:ext uri="{FF2B5EF4-FFF2-40B4-BE49-F238E27FC236}">
                <a16:creationId xmlns:a16="http://schemas.microsoft.com/office/drawing/2014/main" id="{0989A80B-064B-4AD1-9EB0-AF0EA463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76625"/>
            <a:ext cx="2647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C636B"/>
                </a:solidFill>
              </a:defRPr>
            </a:pPr>
            <a:r>
              <a:rPr sz="1500" b="0">
                <a:solidFill>
                  <a:srgbClr val="5C636B"/>
                </a:solidFill>
              </a:rPr>
              <a:t>CX7C, CX9C, CX3CX9C, CX6CX6C and CX9CX3C encode one- and two-ring disulfide topology families.</a:t>
            </a:r>
          </a:p>
        </p:txBody>
      </p:sp>
      <p:sp>
        <p:nvSpPr>
          <p:cNvPr id="11" name="metric-2">
            <a:extLst xmlns:a="http://schemas.openxmlformats.org/drawingml/2006/main">
              <a:ext uri="{FF2B5EF4-FFF2-40B4-BE49-F238E27FC236}">
                <a16:creationId xmlns:a16="http://schemas.microsoft.com/office/drawing/2014/main" id="{A6EB45A9-AFE3-434C-B271-97C6B5AE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32194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-2">
            <a:extLst xmlns:a="http://schemas.openxmlformats.org/drawingml/2006/main">
              <a:ext uri="{FF2B5EF4-FFF2-40B4-BE49-F238E27FC236}">
                <a16:creationId xmlns:a16="http://schemas.microsoft.com/office/drawing/2014/main" id="{DAF5C801-E074-4A52-ABAB-DD7B6299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52625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A0A0A"/>
                </a:solidFill>
              </a:defRPr>
            </a:pPr>
            <a:r>
              <a:rPr sz="4350" b="1">
                <a:solidFill>
                  <a:srgbClr val="0A0A0A"/>
                </a:solidFill>
              </a:rPr>
              <a:t>2+4</a:t>
            </a:r>
          </a:p>
        </p:txBody>
      </p:sp>
      <p:sp>
        <p:nvSpPr>
          <p:cNvPr id="13" name="head-2">
            <a:extLst xmlns:a="http://schemas.openxmlformats.org/drawingml/2006/main">
              <a:ext uri="{FF2B5EF4-FFF2-40B4-BE49-F238E27FC236}">
                <a16:creationId xmlns:a16="http://schemas.microsoft.com/office/drawing/2014/main" id="{8AB6D874-8280-46E7-98EB-51D69CB2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05125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Selection template</a:t>
            </a:r>
          </a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4C0AA20F-BDDB-4779-AD33-AEF34285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76625"/>
            <a:ext cx="2647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C636B"/>
                </a:solidFill>
              </a:defRPr>
            </a:pPr>
            <a:r>
              <a:rPr sz="1500" b="0">
                <a:solidFill>
                  <a:srgbClr val="5C636B"/>
                </a:solidFill>
              </a:rPr>
              <a:t>Two magnetic-bead enrichment cycles feed four two-color FACS rounds; Sanger and NGS deconvolve enriched sequences.</a:t>
            </a:r>
          </a:p>
        </p:txBody>
      </p:sp>
    </p:spTree>
    <p:extLst>
      <p:ext uri="{BB962C8B-B14F-4D97-AF65-F5344CB8AC3E}">
        <p14:creationId xmlns:p14="http://schemas.microsoft.com/office/powerpoint/2010/main" val="1111771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2DF853-2804-4000-A93B-D672355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0A0A"/>
                </a:solidFill>
              </a:defRPr>
            </a:pPr>
            <a:r>
              <a:rPr sz="3000" b="1">
                <a:solidFill>
                  <a:srgbClr val="0A0A0A"/>
                </a:solidFill>
              </a:rPr>
              <a:t>Literature-informed display data closes the LitRaPID design loop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9DECC17-BA0D-461B-94A2-107DA5CC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C636B"/>
                </a:solidFill>
              </a:defRPr>
            </a:pPr>
            <a:r>
              <a:rPr sz="1050" b="0">
                <a:solidFill>
                  <a:srgbClr val="5C636B"/>
                </a:solidFill>
              </a:rPr>
              <a:t>02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e0c9b46d945f9"/>
          <a:stretch xmlns:a="http://schemas.openxmlformats.org/drawingml/2006/main"/>
        </p:blipFill>
        <p:spPr>
          <a:xfrm xmlns:a="http://schemas.openxmlformats.org/drawingml/2006/main">
            <a:off x="1991849" y="1381125"/>
            <a:ext cx="8208303" cy="4619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1161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2026-08-20T03:11:43.6910000Z</dcterms:created>
  <dcterms:modified xsi:type="dcterms:W3CDTF">2026-08-20T03:11:43.6910000Z</dcterms:modified>
</coreProperties>
</file>