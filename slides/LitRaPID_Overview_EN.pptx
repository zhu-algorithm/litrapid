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90979ca2e04829" /><Relationship Type="http://schemas.openxmlformats.org/officeDocument/2006/relationships/extended-properties" Target="/docProps/app.xml" Id="R19fc2151ca924cf3" /><Relationship Type="http://schemas.openxmlformats.org/officeDocument/2006/relationships/officeDocument" Target="/ppt/presentation.xml" Id="R3a00dbed08df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8d6af82804e92"/>
  </p:sldMasterIdLst>
  <p:notesMasterIdLst>
    <p:notesMasterId xmlns:r="http://schemas.openxmlformats.org/officeDocument/2006/relationships" r:id="R59485f50407c4b5f"/>
  </p:notesMasterIdLst>
  <p:sldIdLst>
    <p:sldId xmlns:r="http://schemas.openxmlformats.org/officeDocument/2006/relationships" id="256" r:id="R9b159fa66f2d4ad1"/>
    <p:sldId xmlns:r="http://schemas.openxmlformats.org/officeDocument/2006/relationships" id="257" r:id="R417eb2687fb14e1b"/>
    <p:sldId xmlns:r="http://schemas.openxmlformats.org/officeDocument/2006/relationships" id="258" r:id="R7822ead8a0f64c81"/>
    <p:sldId xmlns:r="http://schemas.openxmlformats.org/officeDocument/2006/relationships" id="259" r:id="R1a5017eb92554b97"/>
    <p:sldId xmlns:r="http://schemas.openxmlformats.org/officeDocument/2006/relationships" id="260" r:id="R17ef32b41fd148e9"/>
    <p:sldId xmlns:r="http://schemas.openxmlformats.org/officeDocument/2006/relationships" id="261" r:id="Rce1f605817934e91"/>
    <p:sldId xmlns:r="http://schemas.openxmlformats.org/officeDocument/2006/relationships" id="262" r:id="R157665da2dcf45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5824c6c374507" /><Relationship Type="http://schemas.openxmlformats.org/officeDocument/2006/relationships/slideMaster" Target="/ppt/slideMasters/slideMaster1.xml" Id="R1998d6af82804e92" /><Relationship Type="http://schemas.openxmlformats.org/officeDocument/2006/relationships/notesMaster" Target="/ppt/notesMasters/notesMaster1.xml" Id="R59485f50407c4b5f" /><Relationship Type="http://schemas.openxmlformats.org/officeDocument/2006/relationships/presProps" Target="/ppt/presProps.xml" Id="Rd8dc99d055e848d6" /><Relationship Type="http://schemas.openxmlformats.org/officeDocument/2006/relationships/tableStyles" Target="/ppt/tableStyles.xml" Id="R3f703db1466648a0" /><Relationship Type="http://schemas.openxmlformats.org/officeDocument/2006/relationships/slide" Target="/ppt/slides/slide1.xml" Id="R9b159fa66f2d4ad1" /><Relationship Type="http://schemas.openxmlformats.org/officeDocument/2006/relationships/slide" Target="/ppt/slides/slide2.xml" Id="R417eb2687fb14e1b" /><Relationship Type="http://schemas.openxmlformats.org/officeDocument/2006/relationships/slide" Target="/ppt/slides/slide3.xml" Id="R7822ead8a0f64c81" /><Relationship Type="http://schemas.openxmlformats.org/officeDocument/2006/relationships/slide" Target="/ppt/slides/slide4.xml" Id="R1a5017eb92554b97" /><Relationship Type="http://schemas.openxmlformats.org/officeDocument/2006/relationships/slide" Target="/ppt/slides/slide5.xml" Id="R17ef32b41fd148e9" /><Relationship Type="http://schemas.openxmlformats.org/officeDocument/2006/relationships/slide" Target="/ppt/slides/slide6.xml" Id="Rce1f605817934e91" /><Relationship Type="http://schemas.openxmlformats.org/officeDocument/2006/relationships/slide" Target="/ppt/slides/slide7.xml" Id="R157665da2dcf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767c1d570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c7a272b704f63" /><Relationship Type="http://schemas.openxmlformats.org/officeDocument/2006/relationships/notesMaster" Target="/ppt/notesMasters/notesMaster1.xml" Id="Rdbc90253ad61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1342c402a240fc" /><Relationship Type="http://schemas.openxmlformats.org/officeDocument/2006/relationships/notesMaster" Target="/ppt/notesMasters/notesMaster1.xml" Id="R59daaa9e988d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389aeb7cc4896" /><Relationship Type="http://schemas.openxmlformats.org/officeDocument/2006/relationships/notesMaster" Target="/ppt/notesMasters/notesMaster1.xml" Id="R7870056039904d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e33cbed16d4791" /><Relationship Type="http://schemas.openxmlformats.org/officeDocument/2006/relationships/notesMaster" Target="/ppt/notesMasters/notesMaster1.xml" Id="Rbc18da7e1a29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0a0d9ea3748d1" /><Relationship Type="http://schemas.openxmlformats.org/officeDocument/2006/relationships/notesMaster" Target="/ppt/notesMasters/notesMaster1.xml" Id="Ra431201fed6d4f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5471a0f9f04a1a" /><Relationship Type="http://schemas.openxmlformats.org/officeDocument/2006/relationships/notesMaster" Target="/ppt/notesMasters/notesMaster1.xml" Id="Rd1f8a1b3333e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9aa0ed072c4e87" /><Relationship Type="http://schemas.openxmlformats.org/officeDocument/2006/relationships/notesMaster" Target="/ppt/notesMasters/notesMaster1.xml" Id="Rf4f089e3b4c1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https://pmc.ncbi.nlm.nih.gov/articles/PMC8189037/</a:t>
            </a:r>
          </a:p>
          <a:p xmlns:a="http://schemas.openxmlformats.org/drawingml/2006/main">
            <a:r>
              <a:t>- https://doi.org/10.1039/d5cc06167a</a:t>
            </a:r>
          </a:p>
          <a:p xmlns:a="http://schemas.openxmlformats.org/drawingml/2006/main">
            <a:r>
              <a:t>- https://acs.figshare.com/articles/dataset/28561933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https://www.ebi.ac.uk/chembl/api/data/docs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https://patents.google.com/patent/US11970694B2/en</a:t>
            </a:r>
          </a:p>
          <a:p xmlns:a="http://schemas.openxmlformats.org/drawingml/2006/main">
            <a:r>
              <a:t>- https://patents.google.com/patent/US20160209421A1/en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97c449d8446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bf4f87a414d10" /><Relationship Type="http://schemas.openxmlformats.org/officeDocument/2006/relationships/slideLayout" Target="/ppt/slideLayouts/slideLayout1.xml" Id="R5c6c20843c43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6c20843c43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ae81b29ef46d5" /><Relationship Type="http://schemas.openxmlformats.org/officeDocument/2006/relationships/notesSlide" Target="/ppt/notesSlides/notesSlide1.xml" Id="Rdf36bce869a5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22c1981ca4ba7" /><Relationship Type="http://schemas.openxmlformats.org/officeDocument/2006/relationships/notesSlide" Target="/ppt/notesSlides/notesSlide2.xml" Id="Rbc4dbdedfcf5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163ee14e74223" /><Relationship Type="http://schemas.openxmlformats.org/officeDocument/2006/relationships/notesSlide" Target="/ppt/notesSlides/notesSlide3.xml" Id="R72c8b1ad7f8d44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48e58396c4665" /><Relationship Type="http://schemas.openxmlformats.org/officeDocument/2006/relationships/notesSlide" Target="/ppt/notesSlides/notesSlide4.xml" Id="Ra7d32d9526d1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9de7a1c2b4a29" /><Relationship Type="http://schemas.openxmlformats.org/officeDocument/2006/relationships/notesSlide" Target="/ppt/notesSlides/notesSlide5.xml" Id="R9829278d0894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f0d8ec2d54eb9" /><Relationship Type="http://schemas.openxmlformats.org/officeDocument/2006/relationships/notesSlide" Target="/ppt/notesSlides/notesSlide6.xml" Id="R7504c666d884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79d33674948de" /><Relationship Type="http://schemas.openxmlformats.org/officeDocument/2006/relationships/notesSlide" Target="/ppt/notesSlides/notesSlide7.xml" Id="Rab5d2f2f38a74e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5433F700-BB7D-483F-B70C-2717887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VIRTUAL MACROCYCLIC PEPTIDE DISCOVERY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B25E7B-8952-45AE-A317-E313B5BB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A0A"/>
                </a:solidFill>
              </a:defRPr>
            </a:pPr>
            <a:r>
              <a:rPr sz="4950" b="1">
                <a:solidFill>
                  <a:srgbClr val="0A0A0A"/>
                </a:solidFill>
              </a:rPr>
              <a:t>LitRaPID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DB9AF14-F5B3-4DC4-9E6E-A1D7C5B4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36B"/>
                </a:solidFill>
              </a:defRPr>
            </a:pPr>
            <a:r>
              <a:rPr sz="2250" b="0">
                <a:solidFill>
                  <a:srgbClr val="5C636B"/>
                </a:solidFill>
              </a:rPr>
              <a:t>A literature- and patent-driven platform for evidence-grounded peptide design</a:t>
            </a:r>
          </a:p>
        </p:txBody>
      </p:sp>
      <p:sp>
        <p:nvSpPr>
          <p:cNvPr id="4" name="hero-field">
            <a:extLst xmlns:a="http://schemas.openxmlformats.org/drawingml/2006/main">
              <a:ext uri="{FF2B5EF4-FFF2-40B4-BE49-F238E27FC236}">
                <a16:creationId xmlns:a16="http://schemas.microsoft.com/office/drawing/2014/main" id="{0E63F554-E055-4203-B1BB-D28DEDAF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"/>
            <a:ext cx="51911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7D10FCDE-A992-4AC6-9E20-E399952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6" name="node-1">
            <a:extLst xmlns:a="http://schemas.openxmlformats.org/drawingml/2006/main">
              <a:ext uri="{FF2B5EF4-FFF2-40B4-BE49-F238E27FC236}">
                <a16:creationId xmlns:a16="http://schemas.microsoft.com/office/drawing/2014/main" id="{1E199198-445B-4337-B7A0-4405AA7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24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7" name="node-2">
            <a:extLst xmlns:a="http://schemas.openxmlformats.org/drawingml/2006/main">
              <a:ext uri="{FF2B5EF4-FFF2-40B4-BE49-F238E27FC236}">
                <a16:creationId xmlns:a16="http://schemas.microsoft.com/office/drawing/2014/main" id="{00A5F856-39CD-4ED7-9FF7-4709C3E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66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8" name="node-3">
            <a:extLst xmlns:a="http://schemas.openxmlformats.org/drawingml/2006/main">
              <a:ext uri="{FF2B5EF4-FFF2-40B4-BE49-F238E27FC236}">
                <a16:creationId xmlns:a16="http://schemas.microsoft.com/office/drawing/2014/main" id="{567484C7-A149-4EF5-A14E-C42320BF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24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9" name="node-4">
            <a:extLst xmlns:a="http://schemas.openxmlformats.org/drawingml/2006/main">
              <a:ext uri="{FF2B5EF4-FFF2-40B4-BE49-F238E27FC236}">
                <a16:creationId xmlns:a16="http://schemas.microsoft.com/office/drawing/2014/main" id="{82022EDE-44A9-4D0B-BF82-09C5030A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666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0" name="node-5">
            <a:extLst xmlns:a="http://schemas.openxmlformats.org/drawingml/2006/main">
              <a:ext uri="{FF2B5EF4-FFF2-40B4-BE49-F238E27FC236}">
                <a16:creationId xmlns:a16="http://schemas.microsoft.com/office/drawing/2014/main" id="{7B7F43C0-0332-4FEF-8A66-513B65B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4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1" name="node-6">
            <a:extLst xmlns:a="http://schemas.openxmlformats.org/drawingml/2006/main">
              <a:ext uri="{FF2B5EF4-FFF2-40B4-BE49-F238E27FC236}">
                <a16:creationId xmlns:a16="http://schemas.microsoft.com/office/drawing/2014/main" id="{78FDCEB2-134A-40A8-8346-4F199D3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666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2" name="hero-label">
            <a:extLst xmlns:a="http://schemas.openxmlformats.org/drawingml/2006/main">
              <a:ext uri="{FF2B5EF4-FFF2-40B4-BE49-F238E27FC236}">
                <a16:creationId xmlns:a16="http://schemas.microsoft.com/office/drawing/2014/main" id="{D7C33934-863B-42B7-9C73-DAF4BB00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4143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A0A"/>
                </a:solidFill>
              </a:defRPr>
            </a:pPr>
            <a:r>
              <a:rPr sz="1950" b="1">
                <a:solidFill>
                  <a:srgbClr val="0A0A0A"/>
                </a:solidFill>
              </a:rPr>
              <a:t>EVIDENCE  →  MODELS  →  CANDIDATES</a:t>
            </a:r>
          </a:p>
        </p:txBody>
      </p:sp>
      <p:sp>
        <p:nvSpPr>
          <p:cNvPr id="13" name="date">
            <a:extLst xmlns:a="http://schemas.openxmlformats.org/drawingml/2006/main">
              <a:ext uri="{FF2B5EF4-FFF2-40B4-BE49-F238E27FC236}">
                <a16:creationId xmlns:a16="http://schemas.microsoft.com/office/drawing/2014/main" id="{A0C165A4-84A5-457B-8E33-DA89D03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36B"/>
                </a:solidFill>
              </a:defRPr>
            </a:pPr>
            <a:r>
              <a:rPr sz="1350" b="0">
                <a:solidFill>
                  <a:srgbClr val="5C636B"/>
                </a:solidFill>
              </a:rPr>
              <a:t>Platform concept | 2026</a:t>
            </a:r>
          </a:p>
        </p:txBody>
      </p:sp>
    </p:spTree>
    <p:extLst>
      <p:ext uri="{BB962C8B-B14F-4D97-AF65-F5344CB8AC3E}">
        <p14:creationId xmlns:p14="http://schemas.microsoft.com/office/powerpoint/2010/main" val="1497596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E1FD54-0904-419A-B8E3-DF2E3312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The platform reproduces the search logic—not the wet-lab signal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875797-A22E-4F98-99C4-4ED2353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02</a:t>
            </a:r>
          </a:p>
        </p:txBody>
      </p:sp>
      <p:sp>
        <p:nvSpPr>
          <p:cNvPr id="3" name="left-head">
            <a:extLst xmlns:a="http://schemas.openxmlformats.org/drawingml/2006/main">
              <a:ext uri="{FF2B5EF4-FFF2-40B4-BE49-F238E27FC236}">
                <a16:creationId xmlns:a16="http://schemas.microsoft.com/office/drawing/2014/main" id="{2B860A77-6537-4C93-983A-7DAE38B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What it can do</a:t>
            </a:r>
          </a:p>
        </p:txBody>
      </p:sp>
      <p:sp>
        <p:nvSpPr>
          <p:cNvPr id="4" name="left-body">
            <a:extLst xmlns:a="http://schemas.openxmlformats.org/drawingml/2006/main">
              <a:ext uri="{FF2B5EF4-FFF2-40B4-BE49-F238E27FC236}">
                <a16:creationId xmlns:a16="http://schemas.microsoft.com/office/drawing/2014/main" id="{7E3E9502-BC21-4790-9C07-AF37296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• Expand natural and non-natural macrocycle space</a:t>
            </a:r>
          </a:p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• Rank candidates for a target and mechanism</a:t>
            </a:r>
          </a:p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• Update priorities as new evidence appears</a:t>
            </a:r>
          </a:p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• Trace every prediction to papers and patents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B3623E6-726B-4177-BBE8-D5D9879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ight-head">
            <a:extLst xmlns:a="http://schemas.openxmlformats.org/drawingml/2006/main">
              <a:ext uri="{FF2B5EF4-FFF2-40B4-BE49-F238E27FC236}">
                <a16:creationId xmlns:a16="http://schemas.microsoft.com/office/drawing/2014/main" id="{189A133B-1CA6-49B4-9C5E-35ACEBC1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What it cannot claim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F8E2FB2D-6A83-4D26-868E-4934C22A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C636B"/>
                </a:solidFill>
              </a:defRPr>
            </a:pPr>
            <a:r>
              <a:rPr sz="2025" b="0">
                <a:solidFill>
                  <a:srgbClr val="5C636B"/>
                </a:solidFill>
              </a:rPr>
              <a:t>Without experiments, LitRaPID cannot prove binding, selectivity, permeability or pharmacology.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C636B"/>
                </a:solidFill>
              </a:defRPr>
            </a:pPr>
            <a:r>
              <a:rPr sz="2025" b="0">
                <a:solidFill>
                  <a:srgbClr val="5C636B"/>
                </a:solidFill>
              </a:rPr>
              <a:t>Its product is a transparent, uncertainty-aware shortlist—not a validated hit.</a:t>
            </a:r>
          </a:p>
        </p:txBody>
      </p:sp>
    </p:spTree>
    <p:extLst>
      <p:ext uri="{BB962C8B-B14F-4D97-AF65-F5344CB8AC3E}">
        <p14:creationId xmlns:p14="http://schemas.microsoft.com/office/powerpoint/2010/main" val="92398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D3E83-EA70-4E4E-B706-8861828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Public evidence is sufficient to build a useful first model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E5AEB7-A1B2-4965-9F5E-E8C0D69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03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D1E598AD-24C8-4383-A93E-7A03771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EDE6CED6-E794-4C90-BBFC-683A4CB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&gt;10¹²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8C524D7D-B517-482B-A4D5-00C2EE3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library members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125B7706-8276-4A65-BD2D-025C508A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mRNA display studies report trillion-scale macrocyclic peptide libraries.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8D1B3BB-4691-48BA-8E50-8497663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2CA18E4A-C525-4C8B-B3B5-5A1D682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40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A93D0E71-40A3-4272-B0D0-781681D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published datasets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0989A80B-064B-4AD1-9EB0-AF0EA46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A 2026 analysis compared peptide size across 40 published datasets.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A6EB45A9-AFE3-434C-B271-97C6B5A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DAF5C801-E074-4A52-ABAB-DD7B629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3+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8AB6D874-8280-46E7-98EB-51D69CB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data channels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4C0AA20F-BDDB-4779-AD33-AEF34285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Papers, supplementary datasets and patents provide complementary evidence.</a:t>
            </a:r>
          </a:p>
        </p:txBody>
      </p:sp>
    </p:spTree>
    <p:extLst>
      <p:ext uri="{BB962C8B-B14F-4D97-AF65-F5344CB8AC3E}">
        <p14:creationId xmlns:p14="http://schemas.microsoft.com/office/powerpoint/2010/main" val="1111771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9C5E5C-A62A-4A83-BB6B-F22E800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A governed evidence pipeline turns documents into ranked designs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539E90-9D72-45CF-B94D-99B8AF9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04</a:t>
            </a:r>
          </a:p>
        </p:txBody>
      </p:sp>
      <p:sp>
        <p:nvSpPr>
          <p:cNvPr id="3" name="arrow-0">
            <a:extLst xmlns:a="http://schemas.openxmlformats.org/drawingml/2006/main">
              <a:ext uri="{FF2B5EF4-FFF2-40B4-BE49-F238E27FC236}">
                <a16:creationId xmlns:a16="http://schemas.microsoft.com/office/drawing/2014/main" id="{3CEC51EB-1BF1-4096-87D7-50AD60B9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1">
            <a:extLst xmlns:a="http://schemas.openxmlformats.org/drawingml/2006/main">
              <a:ext uri="{FF2B5EF4-FFF2-40B4-BE49-F238E27FC236}">
                <a16:creationId xmlns:a16="http://schemas.microsoft.com/office/drawing/2014/main" id="{4F90A794-5063-423C-8355-408FC0A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2">
            <a:extLst xmlns:a="http://schemas.openxmlformats.org/drawingml/2006/main">
              <a:ext uri="{FF2B5EF4-FFF2-40B4-BE49-F238E27FC236}">
                <a16:creationId xmlns:a16="http://schemas.microsoft.com/office/drawing/2014/main" id="{82F41526-E53A-4C8C-9993-B72B657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38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3">
            <a:extLst xmlns:a="http://schemas.openxmlformats.org/drawingml/2006/main">
              <a:ext uri="{FF2B5EF4-FFF2-40B4-BE49-F238E27FC236}">
                <a16:creationId xmlns:a16="http://schemas.microsoft.com/office/drawing/2014/main" id="{0B09E72A-AF38-4A83-A413-9D94F1D6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38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4">
            <a:extLst xmlns:a="http://schemas.openxmlformats.org/drawingml/2006/main">
              <a:ext uri="{FF2B5EF4-FFF2-40B4-BE49-F238E27FC236}">
                <a16:creationId xmlns:a16="http://schemas.microsoft.com/office/drawing/2014/main" id="{7DDB9A2B-9CF1-4BA0-90E7-0EC621E7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38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4684FF26-B850-47D8-B2A0-EA02B13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1428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736C287D-99A0-459C-89B1-4BB262C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20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Sources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F2E88A3E-1BC5-41CD-8D42-BEC9681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428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7CAD945D-0A10-4667-8487-101F9EF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120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Extraction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79DFAB7A-A2FD-4175-AC28-1BB49B9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8D1145DE-D7E9-49DD-80B7-F7138BA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Knowledge graph</a:t>
            </a:r>
          </a:p>
        </p:txBody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86C9D52A-183D-4F23-A233-8CC9FA0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524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5F1C60D8-5CDD-4FAB-9E6F-1B7C7AC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Virtual library</a:t>
            </a:r>
          </a:p>
        </p:txBody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A8814B07-6C15-44E8-97A3-A062424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133BB947-184A-4FF0-923B-E5B0AE8E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Multi-objective ranker</a:t>
            </a:r>
          </a:p>
        </p:txBody>
      </p:sp>
      <p:sp>
        <p:nvSpPr>
          <p:cNvPr id="18" name="stage-5">
            <a:extLst xmlns:a="http://schemas.openxmlformats.org/drawingml/2006/main">
              <a:ext uri="{FF2B5EF4-FFF2-40B4-BE49-F238E27FC236}">
                <a16:creationId xmlns:a16="http://schemas.microsoft.com/office/drawing/2014/main" id="{F528D3AD-F6E6-41A5-BCE7-A578633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524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7519141B-D74E-491B-AAAE-83D59DF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57500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Candidate cards</a:t>
            </a:r>
          </a:p>
        </p:txBody>
      </p:sp>
      <p:sp>
        <p:nvSpPr>
          <p:cNvPr id="20" name="traceability">
            <a:extLst xmlns:a="http://schemas.openxmlformats.org/drawingml/2006/main">
              <a:ext uri="{FF2B5EF4-FFF2-40B4-BE49-F238E27FC236}">
                <a16:creationId xmlns:a16="http://schemas.microsoft.com/office/drawing/2014/main" id="{A087ADEF-6B15-45C9-AAF3-10238C8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C636B"/>
                </a:solidFill>
              </a:defRPr>
            </a:pPr>
            <a:r>
              <a:rPr sz="1875" b="0">
                <a:solidFill>
                  <a:srgbClr val="5C636B"/>
                </a:solidFill>
              </a:rPr>
              <a:t>Every extracted fact retains its page, table, claim, source version and review status.</a:t>
            </a:r>
          </a:p>
        </p:txBody>
      </p:sp>
    </p:spTree>
    <p:extLst>
      <p:ext uri="{BB962C8B-B14F-4D97-AF65-F5344CB8AC3E}">
        <p14:creationId xmlns:p14="http://schemas.microsoft.com/office/powerpoint/2010/main" val="3576064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60A8C0-F695-4B73-A003-680C7BE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Ranking balances efficacy, novelty, developability and evidence distance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E3BA43-498C-4717-B5BF-900DAA4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05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24AA5CDE-9766-416C-9309-E774AD3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S = 0.30A + 0.15T + 0.15D + 0.10P + 0.10N + 0.10E − 0.10R</a:t>
            </a:r>
          </a:p>
        </p:txBody>
      </p:sp>
      <p:sp>
        <p:nvSpPr>
          <p:cNvPr id="4" name="bar-bg-0">
            <a:extLst xmlns:a="http://schemas.openxmlformats.org/drawingml/2006/main">
              <a:ext uri="{FF2B5EF4-FFF2-40B4-BE49-F238E27FC236}">
                <a16:creationId xmlns:a16="http://schemas.microsoft.com/office/drawing/2014/main" id="{7DDAFF66-4D4F-450C-AFF5-89ABCDB4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r-0">
            <a:extLst xmlns:a="http://schemas.openxmlformats.org/drawingml/2006/main">
              <a:ext uri="{FF2B5EF4-FFF2-40B4-BE49-F238E27FC236}">
                <a16:creationId xmlns:a16="http://schemas.microsoft.com/office/drawing/2014/main" id="{2771F5FE-0311-4609-A2E6-4DC41518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-0">
            <a:extLst xmlns:a="http://schemas.openxmlformats.org/drawingml/2006/main">
              <a:ext uri="{FF2B5EF4-FFF2-40B4-BE49-F238E27FC236}">
                <a16:creationId xmlns:a16="http://schemas.microsoft.com/office/drawing/2014/main" id="{864C7727-A107-4974-A2A2-D326272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A  Affinity</a:t>
            </a:r>
          </a:p>
        </p:txBody>
      </p:sp>
      <p:sp>
        <p:nvSpPr>
          <p:cNvPr id="7" name="desc-0">
            <a:extLst xmlns:a="http://schemas.openxmlformats.org/drawingml/2006/main">
              <a:ext uri="{FF2B5EF4-FFF2-40B4-BE49-F238E27FC236}">
                <a16:creationId xmlns:a16="http://schemas.microsoft.com/office/drawing/2014/main" id="{E1855D8B-CFDE-4A76-824A-242C8C7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target-conditioned</a:t>
            </a:r>
          </a:p>
        </p:txBody>
      </p:sp>
      <p:sp>
        <p:nvSpPr>
          <p:cNvPr id="8" name="bar-bg-1">
            <a:extLst xmlns:a="http://schemas.openxmlformats.org/drawingml/2006/main">
              <a:ext uri="{FF2B5EF4-FFF2-40B4-BE49-F238E27FC236}">
                <a16:creationId xmlns:a16="http://schemas.microsoft.com/office/drawing/2014/main" id="{9F8CA9B5-8D6C-4435-8E91-9E292CF7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1">
            <a:extLst xmlns:a="http://schemas.openxmlformats.org/drawingml/2006/main">
              <a:ext uri="{FF2B5EF4-FFF2-40B4-BE49-F238E27FC236}">
                <a16:creationId xmlns:a16="http://schemas.microsoft.com/office/drawing/2014/main" id="{A1A83568-6043-42F2-AF5D-5A3C2AD7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-1">
            <a:extLst xmlns:a="http://schemas.openxmlformats.org/drawingml/2006/main">
              <a:ext uri="{FF2B5EF4-FFF2-40B4-BE49-F238E27FC236}">
                <a16:creationId xmlns:a16="http://schemas.microsoft.com/office/drawing/2014/main" id="{D7714BA3-088C-4AB4-9489-389E420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T  Selectivity</a:t>
            </a:r>
          </a:p>
        </p:txBody>
      </p:sp>
      <p:sp>
        <p:nvSpPr>
          <p:cNvPr id="11" name="desc-1">
            <a:extLst xmlns:a="http://schemas.openxmlformats.org/drawingml/2006/main">
              <a:ext uri="{FF2B5EF4-FFF2-40B4-BE49-F238E27FC236}">
                <a16:creationId xmlns:a16="http://schemas.microsoft.com/office/drawing/2014/main" id="{DA4F684C-B231-4C4A-B539-CC33680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vs. homologs</a:t>
            </a:r>
          </a:p>
        </p:txBody>
      </p:sp>
      <p:sp>
        <p:nvSpPr>
          <p:cNvPr id="12" name="bar-bg-2">
            <a:extLst xmlns:a="http://schemas.openxmlformats.org/drawingml/2006/main">
              <a:ext uri="{FF2B5EF4-FFF2-40B4-BE49-F238E27FC236}">
                <a16:creationId xmlns:a16="http://schemas.microsoft.com/office/drawing/2014/main" id="{C99F81D8-60EA-4B0C-B6E2-BFFF7E1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-2">
            <a:extLst xmlns:a="http://schemas.openxmlformats.org/drawingml/2006/main">
              <a:ext uri="{FF2B5EF4-FFF2-40B4-BE49-F238E27FC236}">
                <a16:creationId xmlns:a16="http://schemas.microsoft.com/office/drawing/2014/main" id="{69812AD8-2CEE-415F-B5FE-8AEEF37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-2">
            <a:extLst xmlns:a="http://schemas.openxmlformats.org/drawingml/2006/main">
              <a:ext uri="{FF2B5EF4-FFF2-40B4-BE49-F238E27FC236}">
                <a16:creationId xmlns:a16="http://schemas.microsoft.com/office/drawing/2014/main" id="{9F4465A7-D4E9-49D2-B59D-BE0B1DF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D  Developability</a:t>
            </a:r>
          </a:p>
        </p:txBody>
      </p:sp>
      <p:sp>
        <p:nvSpPr>
          <p:cNvPr id="15" name="desc-2">
            <a:extLst xmlns:a="http://schemas.openxmlformats.org/drawingml/2006/main">
              <a:ext uri="{FF2B5EF4-FFF2-40B4-BE49-F238E27FC236}">
                <a16:creationId xmlns:a16="http://schemas.microsoft.com/office/drawing/2014/main" id="{B0460664-4DFC-4EEA-B974-EB1E1734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95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stability / solubility</a:t>
            </a:r>
          </a:p>
        </p:txBody>
      </p:sp>
      <p:sp>
        <p:nvSpPr>
          <p:cNvPr id="16" name="bar-bg-3">
            <a:extLst xmlns:a="http://schemas.openxmlformats.org/drawingml/2006/main">
              <a:ext uri="{FF2B5EF4-FFF2-40B4-BE49-F238E27FC236}">
                <a16:creationId xmlns:a16="http://schemas.microsoft.com/office/drawing/2014/main" id="{482BCFF7-F522-42DD-8663-3DFA66B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r-3">
            <a:extLst xmlns:a="http://schemas.openxmlformats.org/drawingml/2006/main">
              <a:ext uri="{FF2B5EF4-FFF2-40B4-BE49-F238E27FC236}">
                <a16:creationId xmlns:a16="http://schemas.microsoft.com/office/drawing/2014/main" id="{CC7D41CF-6458-4C9E-8CFE-1B40B2D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-3">
            <a:extLst xmlns:a="http://schemas.openxmlformats.org/drawingml/2006/main">
              <a:ext uri="{FF2B5EF4-FFF2-40B4-BE49-F238E27FC236}">
                <a16:creationId xmlns:a16="http://schemas.microsoft.com/office/drawing/2014/main" id="{9418909E-4C7B-4F0E-AF0C-4228036A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P  Structural fit</a:t>
            </a:r>
          </a:p>
        </p:txBody>
      </p:sp>
      <p:sp>
        <p:nvSpPr>
          <p:cNvPr id="19" name="desc-3">
            <a:extLst xmlns:a="http://schemas.openxmlformats.org/drawingml/2006/main">
              <a:ext uri="{FF2B5EF4-FFF2-40B4-BE49-F238E27FC236}">
                <a16:creationId xmlns:a16="http://schemas.microsoft.com/office/drawing/2014/main" id="{AE9CAF52-EB79-44F5-B5D1-34DE453F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pocket compatibility</a:t>
            </a:r>
          </a:p>
        </p:txBody>
      </p:sp>
      <p:sp>
        <p:nvSpPr>
          <p:cNvPr id="20" name="bar-bg-4">
            <a:extLst xmlns:a="http://schemas.openxmlformats.org/drawingml/2006/main">
              <a:ext uri="{FF2B5EF4-FFF2-40B4-BE49-F238E27FC236}">
                <a16:creationId xmlns:a16="http://schemas.microsoft.com/office/drawing/2014/main" id="{C096FF10-0FDB-4397-80F7-CFE5000F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r-4">
            <a:extLst xmlns:a="http://schemas.openxmlformats.org/drawingml/2006/main">
              <a:ext uri="{FF2B5EF4-FFF2-40B4-BE49-F238E27FC236}">
                <a16:creationId xmlns:a16="http://schemas.microsoft.com/office/drawing/2014/main" id="{DAACCF0E-E55F-40F8-9CCA-9723C5C2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-4">
            <a:extLst xmlns:a="http://schemas.openxmlformats.org/drawingml/2006/main">
              <a:ext uri="{FF2B5EF4-FFF2-40B4-BE49-F238E27FC236}">
                <a16:creationId xmlns:a16="http://schemas.microsoft.com/office/drawing/2014/main" id="{AB4B9B75-91B2-4385-96E6-2547BB1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N  Novelty</a:t>
            </a:r>
          </a:p>
        </p:txBody>
      </p:sp>
      <p:sp>
        <p:nvSpPr>
          <p:cNvPr id="23" name="desc-4">
            <a:extLst xmlns:a="http://schemas.openxmlformats.org/drawingml/2006/main">
              <a:ext uri="{FF2B5EF4-FFF2-40B4-BE49-F238E27FC236}">
                <a16:creationId xmlns:a16="http://schemas.microsoft.com/office/drawing/2014/main" id="{0E88097F-277B-471C-9634-013631B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distance from prior art</a:t>
            </a:r>
          </a:p>
        </p:txBody>
      </p:sp>
      <p:sp>
        <p:nvSpPr>
          <p:cNvPr id="24" name="bar-bg-5">
            <a:extLst xmlns:a="http://schemas.openxmlformats.org/drawingml/2006/main">
              <a:ext uri="{FF2B5EF4-FFF2-40B4-BE49-F238E27FC236}">
                <a16:creationId xmlns:a16="http://schemas.microsoft.com/office/drawing/2014/main" id="{FC8E5B01-4A9B-497C-92F9-945AC0A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r-5">
            <a:extLst xmlns:a="http://schemas.openxmlformats.org/drawingml/2006/main">
              <a:ext uri="{FF2B5EF4-FFF2-40B4-BE49-F238E27FC236}">
                <a16:creationId xmlns:a16="http://schemas.microsoft.com/office/drawing/2014/main" id="{E814C22B-C779-47E9-972E-F5AC9DAC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b-5">
            <a:extLst xmlns:a="http://schemas.openxmlformats.org/drawingml/2006/main">
              <a:ext uri="{FF2B5EF4-FFF2-40B4-BE49-F238E27FC236}">
                <a16:creationId xmlns:a16="http://schemas.microsoft.com/office/drawing/2014/main" id="{3F704EFD-64A9-4BF8-A6F8-E65F2ADB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E  Evidence domain</a:t>
            </a:r>
          </a:p>
        </p:txBody>
      </p:sp>
      <p:sp>
        <p:nvSpPr>
          <p:cNvPr id="27" name="desc-5">
            <a:extLst xmlns:a="http://schemas.openxmlformats.org/drawingml/2006/main">
              <a:ext uri="{FF2B5EF4-FFF2-40B4-BE49-F238E27FC236}">
                <a16:creationId xmlns:a16="http://schemas.microsoft.com/office/drawing/2014/main" id="{3E2AD4AA-5293-46BA-B192-90CAE29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815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model applicability</a:t>
            </a:r>
          </a:p>
        </p:txBody>
      </p:sp>
      <p:sp>
        <p:nvSpPr>
          <p:cNvPr id="28" name="bar-bg-6">
            <a:extLst xmlns:a="http://schemas.openxmlformats.org/drawingml/2006/main">
              <a:ext uri="{FF2B5EF4-FFF2-40B4-BE49-F238E27FC236}">
                <a16:creationId xmlns:a16="http://schemas.microsoft.com/office/drawing/2014/main" id="{FB3695BD-3820-44DC-9E38-A4D9F14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r-6">
            <a:extLst xmlns:a="http://schemas.openxmlformats.org/drawingml/2006/main">
              <a:ext uri="{FF2B5EF4-FFF2-40B4-BE49-F238E27FC236}">
                <a16:creationId xmlns:a16="http://schemas.microsoft.com/office/drawing/2014/main" id="{457F4E46-9A99-460F-8978-2E69EFD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ab-6">
            <a:extLst xmlns:a="http://schemas.openxmlformats.org/drawingml/2006/main">
              <a:ext uri="{FF2B5EF4-FFF2-40B4-BE49-F238E27FC236}">
                <a16:creationId xmlns:a16="http://schemas.microsoft.com/office/drawing/2014/main" id="{8B0F05CD-77A5-45EC-B3FC-A8454DB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R  Risk</a:t>
            </a:r>
          </a:p>
        </p:txBody>
      </p:sp>
      <p:sp>
        <p:nvSpPr>
          <p:cNvPr id="31" name="desc-6">
            <a:extLst xmlns:a="http://schemas.openxmlformats.org/drawingml/2006/main">
              <a:ext uri="{FF2B5EF4-FFF2-40B4-BE49-F238E27FC236}">
                <a16:creationId xmlns:a16="http://schemas.microsoft.com/office/drawing/2014/main" id="{290C15F6-EC3A-4DD4-B276-C6D51FF5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768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36B"/>
                </a:solidFill>
              </a:defRPr>
            </a:pPr>
            <a:r>
              <a:rPr sz="1275" b="0">
                <a:solidFill>
                  <a:srgbClr val="5C636B"/>
                </a:solidFill>
              </a:rPr>
              <a:t>IP + conflicts + uncertainty</a:t>
            </a:r>
          </a:p>
        </p:txBody>
      </p:sp>
    </p:spTree>
    <p:extLst>
      <p:ext uri="{BB962C8B-B14F-4D97-AF65-F5344CB8AC3E}">
        <p14:creationId xmlns:p14="http://schemas.microsoft.com/office/powerpoint/2010/main" val="10441454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DF853-2804-4000-A93B-D672355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Three guardrails prevent confident but misleading outputs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DECC17-BA0D-461B-94A2-107DA5C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06</a:t>
            </a:r>
          </a:p>
        </p:txBody>
      </p:sp>
      <p:sp>
        <p:nvSpPr>
          <p:cNvPr id="3" name="guard-0">
            <a:extLst xmlns:a="http://schemas.openxmlformats.org/drawingml/2006/main">
              <a:ext uri="{FF2B5EF4-FFF2-40B4-BE49-F238E27FC236}">
                <a16:creationId xmlns:a16="http://schemas.microsoft.com/office/drawing/2014/main" id="{D5AD097F-4EE0-48EF-A4F5-AD9C5A8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guard-num-0">
            <a:extLst xmlns:a="http://schemas.openxmlformats.org/drawingml/2006/main">
              <a:ext uri="{FF2B5EF4-FFF2-40B4-BE49-F238E27FC236}">
                <a16:creationId xmlns:a16="http://schemas.microsoft.com/office/drawing/2014/main" id="{ABC5700D-40C8-4F9B-AA6B-6C380BC9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guard-head-0">
            <a:extLst xmlns:a="http://schemas.openxmlformats.org/drawingml/2006/main">
              <a:ext uri="{FF2B5EF4-FFF2-40B4-BE49-F238E27FC236}">
                <a16:creationId xmlns:a16="http://schemas.microsoft.com/office/drawing/2014/main" id="{3376CC01-C8B9-438D-921A-CE0EA977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Evidence grades</a:t>
            </a:r>
          </a:p>
        </p:txBody>
      </p:sp>
      <p:sp>
        <p:nvSpPr>
          <p:cNvPr id="6" name="guard-body-0">
            <a:extLst xmlns:a="http://schemas.openxmlformats.org/drawingml/2006/main">
              <a:ext uri="{FF2B5EF4-FFF2-40B4-BE49-F238E27FC236}">
                <a16:creationId xmlns:a16="http://schemas.microsoft.com/office/drawing/2014/main" id="{510270BA-BCDA-4BCD-A987-6C35B413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A/B evidence trains core models; enrichment-only and OCR-derived records remain weak supervision or review-only.</a:t>
            </a:r>
          </a:p>
        </p:txBody>
      </p:sp>
      <p:sp>
        <p:nvSpPr>
          <p:cNvPr id="7" name="guard-1">
            <a:extLst xmlns:a="http://schemas.openxmlformats.org/drawingml/2006/main">
              <a:ext uri="{FF2B5EF4-FFF2-40B4-BE49-F238E27FC236}">
                <a16:creationId xmlns:a16="http://schemas.microsoft.com/office/drawing/2014/main" id="{4C9646CC-4EBF-4432-A2F6-5DFD578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guard-num-1">
            <a:extLst xmlns:a="http://schemas.openxmlformats.org/drawingml/2006/main">
              <a:ext uri="{FF2B5EF4-FFF2-40B4-BE49-F238E27FC236}">
                <a16:creationId xmlns:a16="http://schemas.microsoft.com/office/drawing/2014/main" id="{5644AE5A-2EAB-4A58-B800-AD5A6144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guard-head-1">
            <a:extLst xmlns:a="http://schemas.openxmlformats.org/drawingml/2006/main">
              <a:ext uri="{FF2B5EF4-FFF2-40B4-BE49-F238E27FC236}">
                <a16:creationId xmlns:a16="http://schemas.microsoft.com/office/drawing/2014/main" id="{4574F82F-BF63-492E-BA3F-C79719A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93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Strict validation</a:t>
            </a:r>
          </a:p>
        </p:txBody>
      </p:sp>
      <p:sp>
        <p:nvSpPr>
          <p:cNvPr id="10" name="guard-body-1">
            <a:extLst xmlns:a="http://schemas.openxmlformats.org/drawingml/2006/main">
              <a:ext uri="{FF2B5EF4-FFF2-40B4-BE49-F238E27FC236}">
                <a16:creationId xmlns:a16="http://schemas.microsoft.com/office/drawing/2014/main" id="{55F7F514-A446-46AF-B1F6-3C6E9AE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86125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Split by source, sequence cluster, scaffold and target family—not random rows—to test genuine extrapolation.</a:t>
            </a:r>
          </a:p>
        </p:txBody>
      </p:sp>
      <p:sp>
        <p:nvSpPr>
          <p:cNvPr id="11" name="guard-2">
            <a:extLst xmlns:a="http://schemas.openxmlformats.org/drawingml/2006/main">
              <a:ext uri="{FF2B5EF4-FFF2-40B4-BE49-F238E27FC236}">
                <a16:creationId xmlns:a16="http://schemas.microsoft.com/office/drawing/2014/main" id="{8378BA16-C95E-4C04-AF63-9A99466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guard-num-2">
            <a:extLst xmlns:a="http://schemas.openxmlformats.org/drawingml/2006/main">
              <a:ext uri="{FF2B5EF4-FFF2-40B4-BE49-F238E27FC236}">
                <a16:creationId xmlns:a16="http://schemas.microsoft.com/office/drawing/2014/main" id="{53DBE284-CCA6-4507-9FD3-341C1EA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guard-head-2">
            <a:extLst xmlns:a="http://schemas.openxmlformats.org/drawingml/2006/main">
              <a:ext uri="{FF2B5EF4-FFF2-40B4-BE49-F238E27FC236}">
                <a16:creationId xmlns:a16="http://schemas.microsoft.com/office/drawing/2014/main" id="{77760E47-E0EC-483D-A632-0889CC3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193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Patent alerts</a:t>
            </a:r>
          </a:p>
        </p:txBody>
      </p:sp>
      <p:sp>
        <p:nvSpPr>
          <p:cNvPr id="14" name="guard-body-2">
            <a:extLst xmlns:a="http://schemas.openxmlformats.org/drawingml/2006/main">
              <a:ext uri="{FF2B5EF4-FFF2-40B4-BE49-F238E27FC236}">
                <a16:creationId xmlns:a16="http://schemas.microsoft.com/office/drawing/2014/main" id="{C6F60FE4-DE0B-4015-B6AE-75E32727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86125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Separate platform, sequence/structure and use-claim risks. Alerts always require jurisdiction-specific legal review.</a:t>
            </a:r>
          </a:p>
        </p:txBody>
      </p:sp>
    </p:spTree>
    <p:extLst>
      <p:ext uri="{BB962C8B-B14F-4D97-AF65-F5344CB8AC3E}">
        <p14:creationId xmlns:p14="http://schemas.microsoft.com/office/powerpoint/2010/main" val="12931161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61F9D3-BB3B-4B0A-8CEB-A841667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A staged roadmap delivers value before generative modeling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CBC3D0-EFFF-40F2-A988-65E7E48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07</a:t>
            </a:r>
          </a:p>
        </p:txBody>
      </p:sp>
      <p:sp>
        <p:nvSpPr>
          <p:cNvPr id="3" name="road-line">
            <a:extLst xmlns:a="http://schemas.openxmlformats.org/drawingml/2006/main">
              <a:ext uri="{FF2B5EF4-FFF2-40B4-BE49-F238E27FC236}">
                <a16:creationId xmlns:a16="http://schemas.microsoft.com/office/drawing/2014/main" id="{2BD3AF44-5D23-4650-94A7-D8FBD84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-card-0">
            <a:extLst xmlns:a="http://schemas.openxmlformats.org/drawingml/2006/main">
              <a:ext uri="{FF2B5EF4-FFF2-40B4-BE49-F238E27FC236}">
                <a16:creationId xmlns:a16="http://schemas.microsoft.com/office/drawing/2014/main" id="{585343A2-E86E-40FB-87B7-4C7A482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oad-head-0">
            <a:extLst xmlns:a="http://schemas.openxmlformats.org/drawingml/2006/main">
              <a:ext uri="{FF2B5EF4-FFF2-40B4-BE49-F238E27FC236}">
                <a16:creationId xmlns:a16="http://schemas.microsoft.com/office/drawing/2014/main" id="{68CC6025-130E-4C8B-85D0-42F0A6D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V0 · Evidence base</a:t>
            </a:r>
          </a:p>
        </p:txBody>
      </p:sp>
      <p:sp>
        <p:nvSpPr>
          <p:cNvPr id="6" name="road-body-0">
            <a:extLst xmlns:a="http://schemas.openxmlformats.org/drawingml/2006/main">
              <a:ext uri="{FF2B5EF4-FFF2-40B4-BE49-F238E27FC236}">
                <a16:creationId xmlns:a16="http://schemas.microsoft.com/office/drawing/2014/main" id="{7E648EA6-952F-4552-9CA3-B7C3241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2686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Curate 5–10 targets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Normalize 500–2,000 records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Build search + similarity baseline</a:t>
            </a:r>
          </a:p>
        </p:txBody>
      </p:sp>
      <p:sp>
        <p:nvSpPr>
          <p:cNvPr id="7" name="road-dot-0">
            <a:extLst xmlns:a="http://schemas.openxmlformats.org/drawingml/2006/main">
              <a:ext uri="{FF2B5EF4-FFF2-40B4-BE49-F238E27FC236}">
                <a16:creationId xmlns:a16="http://schemas.microsoft.com/office/drawing/2014/main" id="{D9CEDEC0-3385-45B3-A5BC-3F108CC9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-dur-0">
            <a:extLst xmlns:a="http://schemas.openxmlformats.org/drawingml/2006/main">
              <a:ext uri="{FF2B5EF4-FFF2-40B4-BE49-F238E27FC236}">
                <a16:creationId xmlns:a16="http://schemas.microsoft.com/office/drawing/2014/main" id="{ECB575CD-A69E-449F-B3B6-F26D7DC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4–6 weeks</a:t>
            </a:r>
          </a:p>
        </p:txBody>
      </p:sp>
      <p:sp>
        <p:nvSpPr>
          <p:cNvPr id="9" name="road-card-1">
            <a:extLst xmlns:a="http://schemas.openxmlformats.org/drawingml/2006/main">
              <a:ext uri="{FF2B5EF4-FFF2-40B4-BE49-F238E27FC236}">
                <a16:creationId xmlns:a16="http://schemas.microsoft.com/office/drawing/2014/main" id="{7B26FC86-6BD3-4ADA-BEBE-55A46F0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oad-head-1">
            <a:extLst xmlns:a="http://schemas.openxmlformats.org/drawingml/2006/main">
              <a:ext uri="{FF2B5EF4-FFF2-40B4-BE49-F238E27FC236}">
                <a16:creationId xmlns:a16="http://schemas.microsoft.com/office/drawing/2014/main" id="{ABF395E8-DD72-4C04-9525-D0F96E7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V1 · Target ranking</a:t>
            </a:r>
          </a:p>
        </p:txBody>
      </p:sp>
      <p:sp>
        <p:nvSpPr>
          <p:cNvPr id="11" name="road-body-1">
            <a:extLst xmlns:a="http://schemas.openxmlformats.org/drawingml/2006/main">
              <a:ext uri="{FF2B5EF4-FFF2-40B4-BE49-F238E27FC236}">
                <a16:creationId xmlns:a16="http://schemas.microsoft.com/office/drawing/2014/main" id="{E69F4AFD-9A70-4B4D-9666-DA70AABE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2686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Train target-conditioned models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Calibrate uncertainty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Add selectivity and diversity</a:t>
            </a:r>
          </a:p>
        </p:txBody>
      </p:sp>
      <p:sp>
        <p:nvSpPr>
          <p:cNvPr id="12" name="road-dot-1">
            <a:extLst xmlns:a="http://schemas.openxmlformats.org/drawingml/2006/main">
              <a:ext uri="{FF2B5EF4-FFF2-40B4-BE49-F238E27FC236}">
                <a16:creationId xmlns:a16="http://schemas.microsoft.com/office/drawing/2014/main" id="{17284583-EF3E-42A5-9A5F-F47BC42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53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-dur-1">
            <a:extLst xmlns:a="http://schemas.openxmlformats.org/drawingml/2006/main">
              <a:ext uri="{FF2B5EF4-FFF2-40B4-BE49-F238E27FC236}">
                <a16:creationId xmlns:a16="http://schemas.microsoft.com/office/drawing/2014/main" id="{4C555B34-0B69-4AB8-BE71-7DC0275B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6–10 weeks</a:t>
            </a:r>
          </a:p>
        </p:txBody>
      </p:sp>
      <p:sp>
        <p:nvSpPr>
          <p:cNvPr id="14" name="road-card-2">
            <a:extLst xmlns:a="http://schemas.openxmlformats.org/drawingml/2006/main">
              <a:ext uri="{FF2B5EF4-FFF2-40B4-BE49-F238E27FC236}">
                <a16:creationId xmlns:a16="http://schemas.microsoft.com/office/drawing/2014/main" id="{22C90D2F-C7FD-4339-B218-9B2749FC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219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oad-head-2">
            <a:extLst xmlns:a="http://schemas.openxmlformats.org/drawingml/2006/main">
              <a:ext uri="{FF2B5EF4-FFF2-40B4-BE49-F238E27FC236}">
                <a16:creationId xmlns:a16="http://schemas.microsoft.com/office/drawing/2014/main" id="{5558179C-5D1F-44FA-A1BC-750BB24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V2 · Generation + IP</a:t>
            </a:r>
          </a:p>
        </p:txBody>
      </p:sp>
      <p:sp>
        <p:nvSpPr>
          <p:cNvPr id="16" name="road-body-2">
            <a:extLst xmlns:a="http://schemas.openxmlformats.org/drawingml/2006/main">
              <a:ext uri="{FF2B5EF4-FFF2-40B4-BE49-F238E27FC236}">
                <a16:creationId xmlns:a16="http://schemas.microsoft.com/office/drawing/2014/main" id="{7FBE20CA-D529-4D6D-A1F5-53C25453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9875"/>
            <a:ext cx="2686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Constrained macrocycle generator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Claim-feature retrieval</a:t>
            </a:r>
          </a:p>
          <a:p xmlns:a="http://schemas.openxmlformats.org/drawingml/2006/main">
            <a:pPr algn="l">
              <a:defRPr sz="1575" b="0">
                <a:solidFill>
                  <a:srgbClr val="5C636B"/>
                </a:solidFill>
              </a:defRPr>
            </a:pPr>
            <a:r>
              <a:rPr sz="1575" b="0">
                <a:solidFill>
                  <a:srgbClr val="5C636B"/>
                </a:solidFill>
              </a:rPr>
              <a:t>Automatic evidence refresh</a:t>
            </a:r>
          </a:p>
        </p:txBody>
      </p:sp>
      <p:sp>
        <p:nvSpPr>
          <p:cNvPr id="17" name="road-dot-2">
            <a:extLst xmlns:a="http://schemas.openxmlformats.org/drawingml/2006/main">
              <a:ext uri="{FF2B5EF4-FFF2-40B4-BE49-F238E27FC236}">
                <a16:creationId xmlns:a16="http://schemas.microsoft.com/office/drawing/2014/main" id="{C96F0B5E-058E-46C8-AFE6-A4ED8F7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53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ad-dur-2">
            <a:extLst xmlns:a="http://schemas.openxmlformats.org/drawingml/2006/main">
              <a:ext uri="{FF2B5EF4-FFF2-40B4-BE49-F238E27FC236}">
                <a16:creationId xmlns:a16="http://schemas.microsoft.com/office/drawing/2014/main" id="{32AD8713-DE42-471B-B0F4-85AF722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9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8–12 weeks</a:t>
            </a:r>
          </a:p>
        </p:txBody>
      </p:sp>
    </p:spTree>
    <p:extLst>
      <p:ext uri="{BB962C8B-B14F-4D97-AF65-F5344CB8AC3E}">
        <p14:creationId xmlns:p14="http://schemas.microsoft.com/office/powerpoint/2010/main" val="1073079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2026-08-19T05:37:35.2180000Z</dcterms:created>
  <dcterms:modified xsi:type="dcterms:W3CDTF">2026-08-19T05:37:35.2180000Z</dcterms:modified>
</coreProperties>
</file>